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ac8b6260-6e2e-5698-fd9e-8839752f6ba9}">
          <p14:sldIdLst>
            <p14:sldId id="256"/>
          </p14:sldIdLst>
        </p14:section>
        <p14:section name="O problema" id="{f2898558-52d8-ef55-b086-43846896b466}">
          <p14:sldIdLst>
            <p14:sldId id="257"/>
            <p14:sldId id="258"/>
          </p14:sldIdLst>
        </p14:section>
        <p14:section name="A solução" id="{93eab72c-ebab-d52c-a37b-08ea6a45fad3}">
          <p14:sldIdLst>
            <p14:sldId id="259"/>
            <p14:sldId id="260"/>
          </p14:sldIdLst>
        </p14:section>
        <p14:section name="Por que agora" id="{42669392-4311-4554-b9f3-d1c039900e06}">
          <p14:sldIdLst>
            <p14:sldId id="261"/>
            <p14:sldId id="262"/>
            <p14:sldId id="263"/>
          </p14:sldIdLst>
        </p14:section>
        <p14:section name="Modelo e rota" id="{29e5b3d8-42fa-9527-911c-08e1bb0521b6}">
          <p14:sldIdLst>
            <p14:sldId id="264"/>
            <p14:sldId id="265"/>
          </p14:sldIdLst>
        </p14:section>
        <p14:section name="Visão, time e rodada" id="{2718eed4-9f3a-a6e4-d768-f76fc7d8f909}">
          <p14:sldIdLst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Abra com a promessa. Toda empresa de serviço no Brasil precisa emitir nota, e quase todas acham isso difícil. O NotaFlow existe para tornar isso simples. Essa frase é o fio de toda 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dores reais. O portal não copia nota. A alíquota do Simples depende de cálculo que pouca gente domina. A tecnologia da API é inacessível para um pequeno negócio. E a reforma tributária muda tudo de novo agora. Resultado: tempo perdido todo mês e risco de pagar imposto errado.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a frase respirar. Todo mundo na sala que já teve empresa de serviço conhece essa rotina. É aqui que o investidor sente a 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NotaFlow emite, copia e cancela NFS-e pelo sistema nacional. O destaque é o Emitir parecida: a função que o portal do governo não tem e que resolve a rotina do mês. O histórico chega sozinho, então o cliente não começa do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 é a tese da empresa. Cada termo da esquerda é algo que o NotaFlow já calcula sozinho: a faixa do Simples pela receita, o fator R, o anexo sugerido pelo CNAE, o INSS retido, o câmbio pela PTAX do Banco Central, o novo grupo IBS e CBS, e a parte técnica de certificado e assinatura. O cliente não precisa saber nada disso. Ele só aperta um botão.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janela é agora. A reforma tributária cria uma onda de mudança obrigatória em poucos meses. Cada empresa que emite nota pelo portal vai ter que aprender regras novas. Nós já entregamos o layout novo. É o melhor momento para capturar quem vai procurar uma ferramenta.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é uma ideia, é um produto em produção em notaflow.vapulab.com. O cadastro está aberto ao público desde 11 de outubro. A velocidade de entrega mostra a capacidade de execução: o produto saiu do zero para produção em semanas. Preencha o número de empresas ativas antes de apresentar.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Descomplicar não é ser descuidado. O certificado digital é o bem mais sensível do cliente, e ele fica cifrado. O sistema reserva o número da nota antes de emitir, então uma queda de rede nunca gera nota duplicada. Há monitoramento e alertas, e o produto passou por um teste de invasão antes de abrir o cadastro.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Hoje o NotaFlow é grátis, de propósito: tirar a barreira de entrada e ganhar base. A receita vem em camadas. Planos pagos para quem precisa de mais. E o certificado digital, que é a etapa onde hoje mais gente desiste: vender dentro do app resolve a dor e gera receita por cliente novo. A parceria com a certificadora está em negociação; não cite o nome em público.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rota é clara. Agora: fechar a reforma tributária, trazer tráfego com o guia contábil e tirar a barreira do certificado. Em 2027: abrir para MEI e Lucro Presumido, que multiplicam o mercado, e começar a cobrar. Depois: cobrir as prefeituras fora do sistema nacional e a nota de produto. O destino é ser o lugar onde o pequeno negócio resolve toda a parte fiscal.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momento de emoção. O imposto brasileiro é famoso por ser complicado, e isso não vai mudar. O que pode mudar é quem carrega essa complicação. Nós carregamos, para que o empreendedor cuide do negócio dele.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a capacidade de execução: um produto fiscal complexo, em produção, com segurança e monitoramento, feito por um time enxuto em poucas semanas. Diga quem mais está no time ou quem entra com o investimento.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produto existe e funciona. O investimento acelera três coisas: ampliar o público com MEI e Lucro Presumido, levar o NotaFlow a quem precisa antes da virada da reforma, e montar o time de suporte e vendas. Preencha o valor, a divisão e a meta antes de apresentar; as barras são ilustrativas até lá.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com o convite. Abra o NotaFlow no celular e mostre o Emitir parecida ao vivo, se houver tempo: a demonstração vale mais que qualquer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claro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299200"/>
            <a:ext cx="63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NotaFlow · Rodada de investimento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12800" y="1168400"/>
            <a:ext cx="10160000" cy="1079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299200"/>
            <a:ext cx="1270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lilás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299200"/>
            <a:ext cx="63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</a:rPr>
              <a:t>NotaFlow · Rodada de investimento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812800" y="1168400"/>
            <a:ext cx="10160000" cy="1079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299200"/>
            <a:ext cx="1270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800" y="1905000"/>
            <a:ext cx="8255000" cy="25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800" y="2349500"/>
            <a:ext cx="9207500" cy="1841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2000"/>
              </a:lnSpc>
              <a:buNone/>
              <a:defRPr lang="en-US" sz="6400" b="1" dirty="0">
                <a:solidFill>
                  <a:srgbClr val="F4F5FB"/>
                </a:solidFill>
              </a:defRPr>
            </a:lvl1pPr>
          </a:lstStyle>
          <a:p>
            <a:pPr algn="l" indent="0" marL="0">
              <a:lnSpc>
                <a:spcPct val="92000"/>
              </a:lnSpc>
              <a:buNone/>
            </a:pPr>
            <a:endParaRPr lang="en-US" sz="6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ras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2413000"/>
            <a:ext cx="10160000" cy="1905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00000"/>
              </a:lnSpc>
              <a:buNone/>
              <a:defRPr lang="en-US" sz="4000" dirty="0">
                <a:solidFill>
                  <a:srgbClr val="F4F5FB"/>
                </a:solidFill>
              </a:defRPr>
            </a:lvl1pPr>
          </a:lstStyle>
          <a:p>
            <a:pPr algn="l" indent="0" marL="0">
              <a:lnSpc>
                <a:spcPct val="100000"/>
              </a:lnSpc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ã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12800" y="1270000"/>
            <a:ext cx="8255000" cy="254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12800" y="1714500"/>
            <a:ext cx="10160000" cy="241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5200" b="1" dirty="0">
                <a:solidFill>
                  <a:srgbClr val="F4F5FB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52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1905000"/>
            <a:ext cx="825500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0" b="1" dirty="0">
                <a:solidFill>
                  <a:srgbClr val="F4F5FB"/>
                </a:solidFill>
              </a:defRPr>
            </a:lvl1pPr>
          </a:lstStyle>
          <a:p>
            <a:pPr algn="l" indent="0" marL="0">
              <a:buNone/>
            </a:pPr>
            <a:endParaRPr lang="en-US" sz="8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299200"/>
            <a:ext cx="1270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-1"/>
          <p:cNvSpPr/>
          <p:nvPr/>
        </p:nvSpPr>
        <p:spPr>
          <a:xfrm>
            <a:off x="7874000" y="-1016000"/>
            <a:ext cx="5715000" cy="5715000"/>
          </a:xfrm>
          <a:prstGeom prst="ellipse">
            <a:avLst/>
          </a:prstGeom>
          <a:ln w="12700">
            <a:solidFill>
              <a:schemeClr val="accent5"/>
            </a:solidFill>
            <a:prstDash val="solid"/>
          </a:ln>
        </p:spPr>
      </p:sp>
      <p:sp>
        <p:nvSpPr>
          <p:cNvPr id="3" name="ring-2"/>
          <p:cNvSpPr/>
          <p:nvPr/>
        </p:nvSpPr>
        <p:spPr>
          <a:xfrm>
            <a:off x="9017000" y="127000"/>
            <a:ext cx="3429000" cy="3429000"/>
          </a:xfrm>
          <a:prstGeom prst="ellipse">
            <a:avLst/>
          </a:prstGeom>
          <a:ln w="12700">
            <a:solidFill>
              <a:srgbClr val="343CB8"/>
            </a:solidFill>
            <a:prstDash val="solid"/>
          </a:ln>
        </p:spPr>
      </p:sp>
      <p:sp>
        <p:nvSpPr>
          <p:cNvPr id="4" name="gold-dot"/>
          <p:cNvSpPr/>
          <p:nvPr/>
        </p:nvSpPr>
        <p:spPr>
          <a:xfrm>
            <a:off x="9906000" y="1016000"/>
            <a:ext cx="762000" cy="7620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0"/>
          <p:cNvSpPr/>
          <p:nvPr>
            <p:ph idx="100" type="body" hasCustomPrompt="1"/>
          </p:nvPr>
        </p:nvSpPr>
        <p:spPr>
          <a:xfrm>
            <a:off x="812800" y="1905000"/>
            <a:ext cx="825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NOTAFLOW · RODADA DE INVESTIMENTO</a:t>
            </a:r>
            <a:endParaRPr lang="en-US" sz="1400" dirty="0"/>
          </a:p>
        </p:txBody>
      </p:sp>
      <p:sp>
        <p:nvSpPr>
          <p:cNvPr id="6" name="Text 0"/>
          <p:cNvSpPr/>
          <p:nvPr>
            <p:ph idx="101" type="title" hasCustomPrompt="1"/>
          </p:nvPr>
        </p:nvSpPr>
        <p:spPr>
          <a:xfrm>
            <a:off x="812800" y="2349500"/>
            <a:ext cx="92075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6400" b="1" dirty="0">
                <a:solidFill>
                  <a:srgbClr val="F4F5FB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Descomplicar o que parece complicado.</a:t>
            </a:r>
            <a:endParaRPr lang="en-US" sz="6400" dirty="0"/>
          </a:p>
        </p:txBody>
      </p:sp>
      <p:sp>
        <p:nvSpPr>
          <p:cNvPr id="7" name="text-3"/>
          <p:cNvSpPr txBox="1"/>
          <p:nvPr/>
        </p:nvSpPr>
        <p:spPr>
          <a:xfrm>
            <a:off x="812800" y="4445000"/>
            <a:ext cx="7620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chemeClr val="accent4"/>
                </a:solidFill>
              </a:rPr>
              <a:t>A nota fiscal de serviço do pequeno negócio, do cliente à chave de acesso, em um clique.</a:t>
            </a:r>
            <a:endParaRPr lang="en-US" sz="2000" dirty="0"/>
          </a:p>
        </p:txBody>
      </p:sp>
      <p:sp>
        <p:nvSpPr>
          <p:cNvPr id="8" name="text-4"/>
          <p:cNvSpPr txBox="1"/>
          <p:nvPr/>
        </p:nvSpPr>
        <p:spPr>
          <a:xfrm>
            <a:off x="812800" y="6223000"/>
            <a:ext cx="63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chemeClr val="accent4"/>
                </a:solidFill>
              </a:rPr>
              <a:t>notaflow.vapulab.com · um produto Vapulab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O PROBLEMA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812800" y="1168400"/>
            <a:ext cx="1016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Emitir nota de serviço no Brasil parece simples. Não é.</a:t>
            </a:r>
            <a:endParaRPr lang="en-US" sz="3600" dirty="0"/>
          </a:p>
        </p:txBody>
      </p:sp>
      <p:sp>
        <p:nvSpPr>
          <p:cNvPr id="4" name="card-5"/>
          <p:cNvSpPr/>
          <p:nvPr/>
        </p:nvSpPr>
        <p:spPr>
          <a:xfrm>
            <a:off x="812800" y="2540000"/>
            <a:ext cx="5181600" cy="15748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-6"/>
          <p:cNvSpPr txBox="1"/>
          <p:nvPr/>
        </p:nvSpPr>
        <p:spPr>
          <a:xfrm>
            <a:off x="1066800" y="2768600"/>
            <a:ext cx="467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Sem “copiar nota”</a:t>
            </a:r>
            <a:endParaRPr lang="en-US" sz="2000" dirty="0"/>
          </a:p>
        </p:txBody>
      </p:sp>
      <p:sp>
        <p:nvSpPr>
          <p:cNvPr id="6" name="text-7"/>
          <p:cNvSpPr txBox="1"/>
          <p:nvPr/>
        </p:nvSpPr>
        <p:spPr>
          <a:xfrm>
            <a:off x="1066800" y="3175000"/>
            <a:ext cx="46736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O portal nacional obriga a digitar a nota inteira de novo, todo mês, mesmo quando ela é igual à anterior.</a:t>
            </a:r>
            <a:endParaRPr lang="en-US" sz="1400" dirty="0"/>
          </a:p>
        </p:txBody>
      </p:sp>
      <p:sp>
        <p:nvSpPr>
          <p:cNvPr id="7" name="card-8"/>
          <p:cNvSpPr/>
          <p:nvPr/>
        </p:nvSpPr>
        <p:spPr>
          <a:xfrm>
            <a:off x="6197600" y="2540000"/>
            <a:ext cx="5181600" cy="15748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-9"/>
          <p:cNvSpPr txBox="1"/>
          <p:nvPr/>
        </p:nvSpPr>
        <p:spPr>
          <a:xfrm>
            <a:off x="6451600" y="2768600"/>
            <a:ext cx="467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Alíquota que muda</a:t>
            </a:r>
            <a:endParaRPr lang="en-US" sz="2000" dirty="0"/>
          </a:p>
        </p:txBody>
      </p:sp>
      <p:sp>
        <p:nvSpPr>
          <p:cNvPr id="9" name="text-10"/>
          <p:cNvSpPr txBox="1"/>
          <p:nvPr/>
        </p:nvSpPr>
        <p:spPr>
          <a:xfrm>
            <a:off x="6451600" y="3175000"/>
            <a:ext cx="46736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No Simples, a taxa sai da receita dos últimos 12 meses, do anexo certo e do fator R. Um erro faz pagar imposto a mais.</a:t>
            </a:r>
            <a:endParaRPr lang="en-US" sz="1400" dirty="0"/>
          </a:p>
        </p:txBody>
      </p:sp>
      <p:sp>
        <p:nvSpPr>
          <p:cNvPr id="10" name="card-11"/>
          <p:cNvSpPr/>
          <p:nvPr/>
        </p:nvSpPr>
        <p:spPr>
          <a:xfrm>
            <a:off x="812800" y="4267200"/>
            <a:ext cx="5181600" cy="15748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-12"/>
          <p:cNvSpPr txBox="1"/>
          <p:nvPr/>
        </p:nvSpPr>
        <p:spPr>
          <a:xfrm>
            <a:off x="1066800" y="4495800"/>
            <a:ext cx="467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Tecnologia hostil</a:t>
            </a:r>
            <a:endParaRPr lang="en-US" sz="2000" dirty="0"/>
          </a:p>
        </p:txBody>
      </p:sp>
      <p:sp>
        <p:nvSpPr>
          <p:cNvPr id="12" name="text-13"/>
          <p:cNvSpPr txBox="1"/>
          <p:nvPr/>
        </p:nvSpPr>
        <p:spPr>
          <a:xfrm>
            <a:off x="1066800" y="4902200"/>
            <a:ext cx="46736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A integração exige certificado digital, mTLS e assinatura XML. Fora do alcance de quem não é programador.</a:t>
            </a:r>
            <a:endParaRPr lang="en-US" sz="1400" dirty="0"/>
          </a:p>
        </p:txBody>
      </p:sp>
      <p:sp>
        <p:nvSpPr>
          <p:cNvPr id="13" name="card-14"/>
          <p:cNvSpPr/>
          <p:nvPr/>
        </p:nvSpPr>
        <p:spPr>
          <a:xfrm>
            <a:off x="6197600" y="4267200"/>
            <a:ext cx="5181600" cy="15748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text-15"/>
          <p:cNvSpPr txBox="1"/>
          <p:nvPr/>
        </p:nvSpPr>
        <p:spPr>
          <a:xfrm>
            <a:off x="6451600" y="4495800"/>
            <a:ext cx="4673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Regras em movimento</a:t>
            </a:r>
            <a:endParaRPr lang="en-US" sz="2000" dirty="0"/>
          </a:p>
        </p:txBody>
      </p:sp>
      <p:sp>
        <p:nvSpPr>
          <p:cNvPr id="15" name="text-16"/>
          <p:cNvSpPr txBox="1"/>
          <p:nvPr/>
        </p:nvSpPr>
        <p:spPr>
          <a:xfrm>
            <a:off x="6451600" y="4902200"/>
            <a:ext cx="46736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A reforma tributária (IBS e CBS) muda o layout da nota em dezembro de 2026 e de novo em janeiro de 2027.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299200"/>
            <a:ext cx="1270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7"/>
          <p:cNvSpPr txBox="1"/>
          <p:nvPr/>
        </p:nvSpPr>
        <p:spPr>
          <a:xfrm>
            <a:off x="762000" y="952500"/>
            <a:ext cx="127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“</a:t>
            </a:r>
            <a:endParaRPr lang="en-US" sz="1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00" y="2413000"/>
            <a:ext cx="1016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F4F5FB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Todo mês a mesma coisa: abrir o emissor e digitar de novo uma nota quase igual à do mês passado.</a:t>
            </a:r>
            <a:endParaRPr lang="en-US" sz="4000" dirty="0"/>
          </a:p>
        </p:txBody>
      </p:sp>
      <p:sp>
        <p:nvSpPr>
          <p:cNvPr id="4" name="text-18"/>
          <p:cNvSpPr txBox="1"/>
          <p:nvPr/>
        </p:nvSpPr>
        <p:spPr>
          <a:xfrm>
            <a:off x="812800" y="4826000"/>
            <a:ext cx="762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 NotaFlow resolve isso.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 SOLUÇÃO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812800" y="1168400"/>
            <a:ext cx="1016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Do cliente à chave de acesso, sem sair do NotaFlow.</a:t>
            </a:r>
            <a:endParaRPr lang="en-US" sz="3600" dirty="0"/>
          </a:p>
        </p:txBody>
      </p:sp>
      <p:sp>
        <p:nvSpPr>
          <p:cNvPr id="4" name="card-19"/>
          <p:cNvSpPr/>
          <p:nvPr/>
        </p:nvSpPr>
        <p:spPr>
          <a:xfrm>
            <a:off x="812800" y="2540000"/>
            <a:ext cx="2489200" cy="3175000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icon-bg-0"/>
          <p:cNvSpPr/>
          <p:nvPr/>
        </p:nvSpPr>
        <p:spPr>
          <a:xfrm>
            <a:off x="1066800" y="2794000"/>
            <a:ext cx="609600" cy="60960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6" name="icon-PiPaperPlaneTiltBold" descr="PaperPlaneTi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2946400"/>
            <a:ext cx="304800" cy="304800"/>
          </a:xfrm>
          <a:prstGeom prst="rect">
            <a:avLst/>
          </a:prstGeom>
        </p:spPr>
      </p:pic>
      <p:sp>
        <p:nvSpPr>
          <p:cNvPr id="7" name="text-20"/>
          <p:cNvSpPr txBox="1"/>
          <p:nvPr/>
        </p:nvSpPr>
        <p:spPr>
          <a:xfrm>
            <a:off x="1066800" y="3606800"/>
            <a:ext cx="1981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Emitir</a:t>
            </a:r>
            <a:endParaRPr lang="en-US" sz="2000" dirty="0"/>
          </a:p>
        </p:txBody>
      </p:sp>
      <p:sp>
        <p:nvSpPr>
          <p:cNvPr id="8" name="text-21"/>
          <p:cNvSpPr txBox="1"/>
          <p:nvPr/>
        </p:nvSpPr>
        <p:spPr>
          <a:xfrm>
            <a:off x="1066800" y="4381500"/>
            <a:ext cx="19812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Assinada com o certificado A1 da empresa. A chave de acesso volta na hora.</a:t>
            </a:r>
            <a:endParaRPr lang="en-US" sz="1400" dirty="0"/>
          </a:p>
        </p:txBody>
      </p:sp>
      <p:sp>
        <p:nvSpPr>
          <p:cNvPr id="9" name="card-22"/>
          <p:cNvSpPr/>
          <p:nvPr/>
        </p:nvSpPr>
        <p:spPr>
          <a:xfrm>
            <a:off x="3505200" y="2540000"/>
            <a:ext cx="2489200" cy="3175000"/>
          </a:xfrm>
          <a:prstGeom prst="roundRect">
            <a:avLst>
              <a:gd name="adj" fmla="val 4082"/>
            </a:avLst>
          </a:prstGeom>
          <a:solidFill>
            <a:schemeClr val="tx2"/>
          </a:solidFill>
          <a:ln/>
        </p:spPr>
      </p:sp>
      <p:sp>
        <p:nvSpPr>
          <p:cNvPr id="10" name="icon-bg-1"/>
          <p:cNvSpPr/>
          <p:nvPr/>
        </p:nvSpPr>
        <p:spPr>
          <a:xfrm>
            <a:off x="3759200" y="2794000"/>
            <a:ext cx="609600" cy="6096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1" name="icon-PiLightningBold" descr="Lightn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600" y="2946400"/>
            <a:ext cx="304800" cy="304800"/>
          </a:xfrm>
          <a:prstGeom prst="rect">
            <a:avLst/>
          </a:prstGeom>
        </p:spPr>
      </p:pic>
      <p:sp>
        <p:nvSpPr>
          <p:cNvPr id="12" name="text-23"/>
          <p:cNvSpPr txBox="1"/>
          <p:nvPr/>
        </p:nvSpPr>
        <p:spPr>
          <a:xfrm>
            <a:off x="3759200" y="3606800"/>
            <a:ext cx="1981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4F5FB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Emitir parecida</a:t>
            </a:r>
            <a:endParaRPr lang="en-US" sz="2000" dirty="0"/>
          </a:p>
        </p:txBody>
      </p:sp>
      <p:sp>
        <p:nvSpPr>
          <p:cNvPr id="13" name="text-24"/>
          <p:cNvSpPr txBox="1"/>
          <p:nvPr/>
        </p:nvSpPr>
        <p:spPr>
          <a:xfrm>
            <a:off x="3759200" y="4381500"/>
            <a:ext cx="19812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Copia a nota do mês passado com todos os grupos fiscais. Muda o valor, e pronto.</a:t>
            </a:r>
            <a:endParaRPr lang="en-US" sz="1400" dirty="0"/>
          </a:p>
        </p:txBody>
      </p:sp>
      <p:sp>
        <p:nvSpPr>
          <p:cNvPr id="14" name="card-25"/>
          <p:cNvSpPr/>
          <p:nvPr/>
        </p:nvSpPr>
        <p:spPr>
          <a:xfrm>
            <a:off x="6197600" y="2540000"/>
            <a:ext cx="2489200" cy="3175000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icon-bg-2"/>
          <p:cNvSpPr/>
          <p:nvPr/>
        </p:nvSpPr>
        <p:spPr>
          <a:xfrm>
            <a:off x="6451600" y="2794000"/>
            <a:ext cx="609600" cy="60960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6" name="icon-PiDatabaseBold" descr="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0" y="2946400"/>
            <a:ext cx="304800" cy="304800"/>
          </a:xfrm>
          <a:prstGeom prst="rect">
            <a:avLst/>
          </a:prstGeom>
        </p:spPr>
      </p:pic>
      <p:sp>
        <p:nvSpPr>
          <p:cNvPr id="17" name="text-26"/>
          <p:cNvSpPr txBox="1"/>
          <p:nvPr/>
        </p:nvSpPr>
        <p:spPr>
          <a:xfrm>
            <a:off x="6451600" y="3606800"/>
            <a:ext cx="1981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Histórico sozinho</a:t>
            </a:r>
            <a:endParaRPr lang="en-US" sz="2000" dirty="0"/>
          </a:p>
        </p:txBody>
      </p:sp>
      <p:sp>
        <p:nvSpPr>
          <p:cNvPr id="18" name="text-27"/>
          <p:cNvSpPr txBox="1"/>
          <p:nvPr/>
        </p:nvSpPr>
        <p:spPr>
          <a:xfrm>
            <a:off x="6451600" y="4381500"/>
            <a:ext cx="19812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As notas já emitidas, até fora do NotaFlow, chegam do sistema nacional a cada 30 minutos.</a:t>
            </a:r>
            <a:endParaRPr lang="en-US" sz="1400" dirty="0"/>
          </a:p>
        </p:txBody>
      </p:sp>
      <p:sp>
        <p:nvSpPr>
          <p:cNvPr id="19" name="card-28"/>
          <p:cNvSpPr/>
          <p:nvPr/>
        </p:nvSpPr>
        <p:spPr>
          <a:xfrm>
            <a:off x="8890000" y="2540000"/>
            <a:ext cx="2489200" cy="3175000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icon-bg-3"/>
          <p:cNvSpPr/>
          <p:nvPr/>
        </p:nvSpPr>
        <p:spPr>
          <a:xfrm>
            <a:off x="9144000" y="2794000"/>
            <a:ext cx="609600" cy="60960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21" name="icon-PiCheckBold" descr="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400" y="2946400"/>
            <a:ext cx="304800" cy="304800"/>
          </a:xfrm>
          <a:prstGeom prst="rect">
            <a:avLst/>
          </a:prstGeom>
        </p:spPr>
      </p:pic>
      <p:sp>
        <p:nvSpPr>
          <p:cNvPr id="22" name="text-29"/>
          <p:cNvSpPr txBox="1"/>
          <p:nvPr/>
        </p:nvSpPr>
        <p:spPr>
          <a:xfrm>
            <a:off x="9144000" y="3606800"/>
            <a:ext cx="1981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Cancelar</a:t>
            </a:r>
            <a:endParaRPr lang="en-US" sz="2000" dirty="0"/>
          </a:p>
        </p:txBody>
      </p:sp>
      <p:sp>
        <p:nvSpPr>
          <p:cNvPr id="23" name="text-30"/>
          <p:cNvSpPr txBox="1"/>
          <p:nvPr/>
        </p:nvSpPr>
        <p:spPr>
          <a:xfrm>
            <a:off x="9144000" y="4381500"/>
            <a:ext cx="19812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Com motivo e registro de quem cancelou e quando. Sem abrir outro sistema.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299200"/>
            <a:ext cx="1270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NOSSA TESE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812800" y="1168400"/>
            <a:ext cx="1016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complexidade fica com a gente. O cliente vê um botão.</a:t>
            </a:r>
            <a:endParaRPr lang="en-US" sz="3600" dirty="0"/>
          </a:p>
        </p:txBody>
      </p:sp>
      <p:sp>
        <p:nvSpPr>
          <p:cNvPr id="4" name="pill-31"/>
          <p:cNvSpPr txBox="1"/>
          <p:nvPr/>
        </p:nvSpPr>
        <p:spPr>
          <a:xfrm>
            <a:off x="812800" y="2794000"/>
            <a:ext cx="3143504" cy="4064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D5D9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Receita dos últimos 12 meses</a:t>
            </a:r>
            <a:endParaRPr lang="en-US" sz="1400" dirty="0"/>
          </a:p>
        </p:txBody>
      </p:sp>
      <p:sp>
        <p:nvSpPr>
          <p:cNvPr id="5" name="pill-32"/>
          <p:cNvSpPr txBox="1"/>
          <p:nvPr/>
        </p:nvSpPr>
        <p:spPr>
          <a:xfrm>
            <a:off x="4057904" y="2794000"/>
            <a:ext cx="1052576" cy="4064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D5D9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Fator R</a:t>
            </a:r>
            <a:endParaRPr lang="en-US" sz="1400" dirty="0"/>
          </a:p>
        </p:txBody>
      </p:sp>
      <p:sp>
        <p:nvSpPr>
          <p:cNvPr id="6" name="pill-33"/>
          <p:cNvSpPr txBox="1"/>
          <p:nvPr/>
        </p:nvSpPr>
        <p:spPr>
          <a:xfrm>
            <a:off x="812800" y="3302000"/>
            <a:ext cx="1550416" cy="4064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D5D9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Anexos I a V</a:t>
            </a:r>
            <a:endParaRPr lang="en-US" sz="1400" dirty="0"/>
          </a:p>
        </p:txBody>
      </p:sp>
      <p:sp>
        <p:nvSpPr>
          <p:cNvPr id="7" name="pill-34"/>
          <p:cNvSpPr txBox="1"/>
          <p:nvPr/>
        </p:nvSpPr>
        <p:spPr>
          <a:xfrm>
            <a:off x="2464816" y="3302000"/>
            <a:ext cx="1450848" cy="4064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D5D9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INSS retido</a:t>
            </a:r>
            <a:endParaRPr lang="en-US" sz="1400" dirty="0"/>
          </a:p>
        </p:txBody>
      </p:sp>
      <p:sp>
        <p:nvSpPr>
          <p:cNvPr id="8" name="pill-35"/>
          <p:cNvSpPr txBox="1"/>
          <p:nvPr/>
        </p:nvSpPr>
        <p:spPr>
          <a:xfrm>
            <a:off x="4017264" y="3302000"/>
            <a:ext cx="1849120" cy="4064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D5D9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Dólar pela PTAX</a:t>
            </a:r>
            <a:endParaRPr lang="en-US" sz="1400" dirty="0"/>
          </a:p>
        </p:txBody>
      </p:sp>
      <p:sp>
        <p:nvSpPr>
          <p:cNvPr id="9" name="pill-36"/>
          <p:cNvSpPr txBox="1"/>
          <p:nvPr/>
        </p:nvSpPr>
        <p:spPr>
          <a:xfrm>
            <a:off x="812800" y="3810000"/>
            <a:ext cx="1251712" cy="4064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D5D9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IBS e CBS</a:t>
            </a:r>
            <a:endParaRPr lang="en-US" sz="1400" dirty="0"/>
          </a:p>
        </p:txBody>
      </p:sp>
      <p:sp>
        <p:nvSpPr>
          <p:cNvPr id="10" name="pill-37"/>
          <p:cNvSpPr txBox="1"/>
          <p:nvPr/>
        </p:nvSpPr>
        <p:spPr>
          <a:xfrm>
            <a:off x="2166112" y="3810000"/>
            <a:ext cx="3043936" cy="4064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D5D9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Código de serviço pelo CNAE</a:t>
            </a:r>
            <a:endParaRPr lang="en-US" sz="1400" dirty="0"/>
          </a:p>
        </p:txBody>
      </p:sp>
      <p:sp>
        <p:nvSpPr>
          <p:cNvPr id="11" name="pill-38"/>
          <p:cNvSpPr txBox="1"/>
          <p:nvPr/>
        </p:nvSpPr>
        <p:spPr>
          <a:xfrm>
            <a:off x="5311648" y="3810000"/>
            <a:ext cx="753872" cy="4064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D5D9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mTLS</a:t>
            </a:r>
            <a:endParaRPr lang="en-US" sz="1400" dirty="0"/>
          </a:p>
        </p:txBody>
      </p:sp>
      <p:sp>
        <p:nvSpPr>
          <p:cNvPr id="12" name="pill-39"/>
          <p:cNvSpPr txBox="1"/>
          <p:nvPr/>
        </p:nvSpPr>
        <p:spPr>
          <a:xfrm>
            <a:off x="812800" y="4318000"/>
            <a:ext cx="1749552" cy="4064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D5D9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Assinatura XML</a:t>
            </a:r>
            <a:endParaRPr lang="en-US" sz="1400" dirty="0"/>
          </a:p>
        </p:txBody>
      </p:sp>
      <p:sp>
        <p:nvSpPr>
          <p:cNvPr id="13" name="arrow"/>
          <p:cNvSpPr/>
          <p:nvPr/>
        </p:nvSpPr>
        <p:spPr>
          <a:xfrm>
            <a:off x="6794500" y="3556000"/>
            <a:ext cx="1016000" cy="5080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4" name="emitir-button"/>
          <p:cNvSpPr txBox="1"/>
          <p:nvPr/>
        </p:nvSpPr>
        <p:spPr>
          <a:xfrm>
            <a:off x="8191500" y="3429000"/>
            <a:ext cx="2794000" cy="762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254000" dist="101600" dir="5400000">
              <a:srgbClr val="1E40AF">
                <a:alpha val="35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F5FB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Emitir nota</a:t>
            </a:r>
            <a:endParaRPr lang="en-US" sz="2800" dirty="0"/>
          </a:p>
        </p:txBody>
      </p:sp>
      <p:sp>
        <p:nvSpPr>
          <p:cNvPr id="15" name="text-40"/>
          <p:cNvSpPr txBox="1"/>
          <p:nvPr/>
        </p:nvSpPr>
        <p:spPr>
          <a:xfrm>
            <a:off x="8191500" y="4381500"/>
            <a:ext cx="27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Um clique. A nota sai certa.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299200"/>
            <a:ext cx="1270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POR QUE AGORA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812800" y="1168400"/>
            <a:ext cx="1016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reforma tributária obriga toda empresa do Simples a mudar como emite nota.</a:t>
            </a:r>
            <a:endParaRPr lang="en-US" sz="3600" dirty="0"/>
          </a:p>
        </p:txBody>
      </p:sp>
      <p:sp>
        <p:nvSpPr>
          <p:cNvPr id="4" name="timeline"/>
          <p:cNvSpPr/>
          <p:nvPr/>
        </p:nvSpPr>
        <p:spPr>
          <a:xfrm>
            <a:off x="812800" y="2616200"/>
            <a:ext cx="10566400" cy="0"/>
          </a:xfrm>
          <a:prstGeom prst="line">
            <a:avLst/>
          </a:prstGeom>
          <a:noFill/>
          <a:ln w="25400">
            <a:solidFill>
              <a:srgbClr val="D5D9E6"/>
            </a:solidFill>
            <a:prstDash val="solid"/>
          </a:ln>
        </p:spPr>
      </p:sp>
      <p:sp>
        <p:nvSpPr>
          <p:cNvPr id="5" name="milestone-0"/>
          <p:cNvSpPr/>
          <p:nvPr/>
        </p:nvSpPr>
        <p:spPr>
          <a:xfrm>
            <a:off x="812800" y="2540000"/>
            <a:ext cx="152400" cy="152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-41"/>
          <p:cNvSpPr txBox="1"/>
          <p:nvPr/>
        </p:nvSpPr>
        <p:spPr>
          <a:xfrm>
            <a:off x="812800" y="2844800"/>
            <a:ext cx="248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20 out 2026</a:t>
            </a:r>
            <a:endParaRPr lang="en-US" sz="2200" dirty="0"/>
          </a:p>
        </p:txBody>
      </p:sp>
      <p:sp>
        <p:nvSpPr>
          <p:cNvPr id="7" name="text-42"/>
          <p:cNvSpPr txBox="1"/>
          <p:nvPr/>
        </p:nvSpPr>
        <p:spPr>
          <a:xfrm>
            <a:off x="812800" y="3276600"/>
            <a:ext cx="241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Novo layout da nota (NT 009) entra em teste no sistema nacional.</a:t>
            </a:r>
            <a:endParaRPr lang="en-US" sz="1400" dirty="0"/>
          </a:p>
        </p:txBody>
      </p:sp>
      <p:sp>
        <p:nvSpPr>
          <p:cNvPr id="8" name="milestone-1"/>
          <p:cNvSpPr/>
          <p:nvPr/>
        </p:nvSpPr>
        <p:spPr>
          <a:xfrm>
            <a:off x="3505200" y="2540000"/>
            <a:ext cx="152400" cy="1524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-43"/>
          <p:cNvSpPr txBox="1"/>
          <p:nvPr/>
        </p:nvSpPr>
        <p:spPr>
          <a:xfrm>
            <a:off x="3505200" y="2844800"/>
            <a:ext cx="248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30 out 2026</a:t>
            </a:r>
            <a:endParaRPr lang="en-US" sz="2200" dirty="0"/>
          </a:p>
        </p:txBody>
      </p:sp>
      <p:sp>
        <p:nvSpPr>
          <p:cNvPr id="10" name="text-44"/>
          <p:cNvSpPr txBox="1"/>
          <p:nvPr/>
        </p:nvSpPr>
        <p:spPr>
          <a:xfrm>
            <a:off x="3505200" y="3276600"/>
            <a:ext cx="241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Prazo para o Simples escolher o regime de IBS e CBS de 2027.</a:t>
            </a:r>
            <a:endParaRPr lang="en-US" sz="1400" dirty="0"/>
          </a:p>
        </p:txBody>
      </p:sp>
      <p:sp>
        <p:nvSpPr>
          <p:cNvPr id="11" name="milestone-2"/>
          <p:cNvSpPr/>
          <p:nvPr/>
        </p:nvSpPr>
        <p:spPr>
          <a:xfrm>
            <a:off x="6197600" y="2540000"/>
            <a:ext cx="152400" cy="152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-45"/>
          <p:cNvSpPr txBox="1"/>
          <p:nvPr/>
        </p:nvSpPr>
        <p:spPr>
          <a:xfrm>
            <a:off x="6197600" y="2844800"/>
            <a:ext cx="248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 dez 2026</a:t>
            </a:r>
            <a:endParaRPr lang="en-US" sz="2200" dirty="0"/>
          </a:p>
        </p:txBody>
      </p:sp>
      <p:sp>
        <p:nvSpPr>
          <p:cNvPr id="13" name="text-46"/>
          <p:cNvSpPr txBox="1"/>
          <p:nvPr/>
        </p:nvSpPr>
        <p:spPr>
          <a:xfrm>
            <a:off x="6197600" y="3276600"/>
            <a:ext cx="241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Layout novo em produção. Nota fora do padrão é recusada.</a:t>
            </a:r>
            <a:endParaRPr lang="en-US" sz="1400" dirty="0"/>
          </a:p>
        </p:txBody>
      </p:sp>
      <p:sp>
        <p:nvSpPr>
          <p:cNvPr id="14" name="milestone-3"/>
          <p:cNvSpPr/>
          <p:nvPr/>
        </p:nvSpPr>
        <p:spPr>
          <a:xfrm>
            <a:off x="8890000" y="2540000"/>
            <a:ext cx="152400" cy="1524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5" name="text-47"/>
          <p:cNvSpPr txBox="1"/>
          <p:nvPr/>
        </p:nvSpPr>
        <p:spPr>
          <a:xfrm>
            <a:off x="8890000" y="2844800"/>
            <a:ext cx="248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 jan 2027</a:t>
            </a:r>
            <a:endParaRPr lang="en-US" sz="2200" dirty="0"/>
          </a:p>
        </p:txBody>
      </p:sp>
      <p:sp>
        <p:nvSpPr>
          <p:cNvPr id="16" name="text-48"/>
          <p:cNvSpPr txBox="1"/>
          <p:nvPr/>
        </p:nvSpPr>
        <p:spPr>
          <a:xfrm>
            <a:off x="8890000" y="3276600"/>
            <a:ext cx="241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IBS e CBS passam a ser obrigatórios na nota do Simples.</a:t>
            </a:r>
            <a:endParaRPr lang="en-US" sz="1400" dirty="0"/>
          </a:p>
        </p:txBody>
      </p:sp>
      <p:sp>
        <p:nvSpPr>
          <p:cNvPr id="17" name="text-49"/>
          <p:cNvSpPr txBox="1"/>
          <p:nvPr/>
        </p:nvSpPr>
        <p:spPr>
          <a:xfrm>
            <a:off x="812800" y="4445000"/>
            <a:ext cx="10566400" cy="1143000"/>
          </a:xfrm>
          <a:prstGeom prst="roundRect">
            <a:avLst>
              <a:gd name="adj" fmla="val 8889"/>
            </a:avLst>
          </a:prstGeom>
          <a:solidFill>
            <a:srgbClr val="EEF0F8"/>
          </a:solidFill>
          <a:ln/>
        </p:spPr>
        <p:txBody>
          <a:bodyPr wrap="square" lIns="254000" tIns="254000" rIns="254000" bIns="25400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chemeClr val="tx2"/>
                </a:solidFill>
              </a:rPr>
              <a:t>O NotaFlow já emite no layout novo. Quem emite à mão vai precisar de ajuda, e vai procurar agora.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299200"/>
            <a:ext cx="1270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O QUE JÁ TEMOS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812800" y="1168400"/>
            <a:ext cx="1016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 ar, com cadastro aberto e notas reais emitidas.</a:t>
            </a:r>
            <a:endParaRPr lang="en-US" sz="3600" dirty="0"/>
          </a:p>
        </p:txBody>
      </p:sp>
      <p:sp>
        <p:nvSpPr>
          <p:cNvPr id="4" name="card-50"/>
          <p:cNvSpPr/>
          <p:nvPr/>
        </p:nvSpPr>
        <p:spPr>
          <a:xfrm>
            <a:off x="812800" y="2540000"/>
            <a:ext cx="2489200" cy="184150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-51"/>
          <p:cNvSpPr txBox="1"/>
          <p:nvPr/>
        </p:nvSpPr>
        <p:spPr>
          <a:xfrm>
            <a:off x="1066800" y="2768600"/>
            <a:ext cx="1981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 ar</a:t>
            </a:r>
            <a:endParaRPr lang="en-US" sz="4800" dirty="0"/>
          </a:p>
        </p:txBody>
      </p:sp>
      <p:sp>
        <p:nvSpPr>
          <p:cNvPr id="6" name="text-52"/>
          <p:cNvSpPr txBox="1"/>
          <p:nvPr/>
        </p:nvSpPr>
        <p:spPr>
          <a:xfrm>
            <a:off x="1066800" y="3530600"/>
            <a:ext cx="1981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Cadastro aberto desde 11 out 2026</a:t>
            </a:r>
            <a:endParaRPr lang="en-US" sz="1400" dirty="0"/>
          </a:p>
        </p:txBody>
      </p:sp>
      <p:sp>
        <p:nvSpPr>
          <p:cNvPr id="7" name="card-53"/>
          <p:cNvSpPr/>
          <p:nvPr/>
        </p:nvSpPr>
        <p:spPr>
          <a:xfrm>
            <a:off x="3505200" y="2540000"/>
            <a:ext cx="2489200" cy="184150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-54"/>
          <p:cNvSpPr txBox="1"/>
          <p:nvPr/>
        </p:nvSpPr>
        <p:spPr>
          <a:xfrm>
            <a:off x="3759200" y="2768600"/>
            <a:ext cx="1981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377</a:t>
            </a:r>
            <a:endParaRPr lang="en-US" sz="4800" dirty="0"/>
          </a:p>
        </p:txBody>
      </p:sp>
      <p:sp>
        <p:nvSpPr>
          <p:cNvPr id="9" name="text-55"/>
          <p:cNvSpPr txBox="1"/>
          <p:nvPr/>
        </p:nvSpPr>
        <p:spPr>
          <a:xfrm>
            <a:off x="3759200" y="3530600"/>
            <a:ext cx="1981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entregas de código em 2 semanas</a:t>
            </a:r>
            <a:endParaRPr lang="en-US" sz="1400" dirty="0"/>
          </a:p>
        </p:txBody>
      </p:sp>
      <p:sp>
        <p:nvSpPr>
          <p:cNvPr id="10" name="card-56"/>
          <p:cNvSpPr/>
          <p:nvPr/>
        </p:nvSpPr>
        <p:spPr>
          <a:xfrm>
            <a:off x="6197600" y="2540000"/>
            <a:ext cx="2489200" cy="184150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-57"/>
          <p:cNvSpPr txBox="1"/>
          <p:nvPr/>
        </p:nvSpPr>
        <p:spPr>
          <a:xfrm>
            <a:off x="6451600" y="2768600"/>
            <a:ext cx="1981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 a V</a:t>
            </a:r>
            <a:endParaRPr lang="en-US" sz="4800" dirty="0"/>
          </a:p>
        </p:txBody>
      </p:sp>
      <p:sp>
        <p:nvSpPr>
          <p:cNvPr id="12" name="text-58"/>
          <p:cNvSpPr txBox="1"/>
          <p:nvPr/>
        </p:nvSpPr>
        <p:spPr>
          <a:xfrm>
            <a:off x="6451600" y="3530600"/>
            <a:ext cx="1981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anexos do Simples calculados sozinhos</a:t>
            </a:r>
            <a:endParaRPr lang="en-US" sz="1400" dirty="0"/>
          </a:p>
        </p:txBody>
      </p:sp>
      <p:sp>
        <p:nvSpPr>
          <p:cNvPr id="13" name="card-59"/>
          <p:cNvSpPr/>
          <p:nvPr/>
        </p:nvSpPr>
        <p:spPr>
          <a:xfrm>
            <a:off x="8890000" y="2540000"/>
            <a:ext cx="2489200" cy="1841500"/>
          </a:xfrm>
          <a:prstGeom prst="roundRect">
            <a:avLst>
              <a:gd name="adj" fmla="val 5517"/>
            </a:avLst>
          </a:prstGeom>
          <a:solidFill>
            <a:schemeClr val="tx2"/>
          </a:solidFill>
          <a:ln/>
        </p:spPr>
      </p:sp>
      <p:sp>
        <p:nvSpPr>
          <p:cNvPr id="14" name="text-60"/>
          <p:cNvSpPr txBox="1"/>
          <p:nvPr/>
        </p:nvSpPr>
        <p:spPr>
          <a:xfrm>
            <a:off x="9144000" y="2768600"/>
            <a:ext cx="1981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[__]</a:t>
            </a:r>
            <a:endParaRPr lang="en-US" sz="4800" dirty="0"/>
          </a:p>
        </p:txBody>
      </p:sp>
      <p:sp>
        <p:nvSpPr>
          <p:cNvPr id="15" name="text-61"/>
          <p:cNvSpPr txBox="1"/>
          <p:nvPr/>
        </p:nvSpPr>
        <p:spPr>
          <a:xfrm>
            <a:off x="9144000" y="3530600"/>
            <a:ext cx="19812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empresas emitindo hoje</a:t>
            </a:r>
            <a:endParaRPr lang="en-US" sz="1400" dirty="0"/>
          </a:p>
        </p:txBody>
      </p:sp>
      <p:sp>
        <p:nvSpPr>
          <p:cNvPr id="16" name="pill-62"/>
          <p:cNvSpPr txBox="1"/>
          <p:nvPr/>
        </p:nvSpPr>
        <p:spPr>
          <a:xfrm>
            <a:off x="812800" y="4635500"/>
            <a:ext cx="816864" cy="330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Emitir</a:t>
            </a:r>
            <a:endParaRPr lang="en-US" sz="1200" dirty="0"/>
          </a:p>
        </p:txBody>
      </p:sp>
      <p:sp>
        <p:nvSpPr>
          <p:cNvPr id="17" name="pill-63"/>
          <p:cNvSpPr txBox="1"/>
          <p:nvPr/>
        </p:nvSpPr>
        <p:spPr>
          <a:xfrm>
            <a:off x="1705864" y="4635500"/>
            <a:ext cx="1584960" cy="330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Emitir parecida</a:t>
            </a:r>
            <a:endParaRPr lang="en-US" sz="1200" dirty="0"/>
          </a:p>
        </p:txBody>
      </p:sp>
      <p:sp>
        <p:nvSpPr>
          <p:cNvPr id="18" name="pill-64"/>
          <p:cNvSpPr txBox="1"/>
          <p:nvPr/>
        </p:nvSpPr>
        <p:spPr>
          <a:xfrm>
            <a:off x="3367024" y="4635500"/>
            <a:ext cx="987552" cy="330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Cancelar</a:t>
            </a:r>
            <a:endParaRPr lang="en-US" sz="1200" dirty="0"/>
          </a:p>
        </p:txBody>
      </p:sp>
      <p:sp>
        <p:nvSpPr>
          <p:cNvPr id="19" name="pill-65"/>
          <p:cNvSpPr txBox="1"/>
          <p:nvPr/>
        </p:nvSpPr>
        <p:spPr>
          <a:xfrm>
            <a:off x="4430776" y="4635500"/>
            <a:ext cx="1840992" cy="330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Importar histórico</a:t>
            </a:r>
            <a:endParaRPr lang="en-US" sz="1200" dirty="0"/>
          </a:p>
        </p:txBody>
      </p:sp>
      <p:sp>
        <p:nvSpPr>
          <p:cNvPr id="20" name="pill-66"/>
          <p:cNvSpPr txBox="1"/>
          <p:nvPr/>
        </p:nvSpPr>
        <p:spPr>
          <a:xfrm>
            <a:off x="6347968" y="4635500"/>
            <a:ext cx="1926336" cy="330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Exportação com PTAX</a:t>
            </a:r>
            <a:endParaRPr lang="en-US" sz="1200" dirty="0"/>
          </a:p>
        </p:txBody>
      </p:sp>
      <p:sp>
        <p:nvSpPr>
          <p:cNvPr id="21" name="pill-67"/>
          <p:cNvSpPr txBox="1"/>
          <p:nvPr/>
        </p:nvSpPr>
        <p:spPr>
          <a:xfrm>
            <a:off x="8350504" y="4635500"/>
            <a:ext cx="1414272" cy="330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Layout NT 009</a:t>
            </a:r>
            <a:endParaRPr lang="en-US" sz="1200" dirty="0"/>
          </a:p>
        </p:txBody>
      </p:sp>
      <p:sp>
        <p:nvSpPr>
          <p:cNvPr id="22" name="pill-68"/>
          <p:cNvSpPr txBox="1"/>
          <p:nvPr/>
        </p:nvSpPr>
        <p:spPr>
          <a:xfrm>
            <a:off x="812800" y="5041900"/>
            <a:ext cx="2438400" cy="330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Várias empresas por conta</a:t>
            </a:r>
            <a:endParaRPr lang="en-US" sz="1200" dirty="0"/>
          </a:p>
        </p:txBody>
      </p:sp>
      <p:sp>
        <p:nvSpPr>
          <p:cNvPr id="23" name="pill-69"/>
          <p:cNvSpPr txBox="1"/>
          <p:nvPr/>
        </p:nvSpPr>
        <p:spPr>
          <a:xfrm>
            <a:off x="3327400" y="5041900"/>
            <a:ext cx="2438400" cy="330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Cadastro guiado pelo CNPJ</a:t>
            </a:r>
            <a:endParaRPr lang="en-US" sz="1200" dirty="0"/>
          </a:p>
        </p:txBody>
      </p:sp>
      <p:sp>
        <p:nvSpPr>
          <p:cNvPr id="24" name="pill-70"/>
          <p:cNvSpPr txBox="1"/>
          <p:nvPr/>
        </p:nvSpPr>
        <p:spPr>
          <a:xfrm>
            <a:off x="5842000" y="5041900"/>
            <a:ext cx="2523744" cy="3302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Login com passkey e Google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299200"/>
            <a:ext cx="1270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CONFIANÇA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812800" y="1168400"/>
            <a:ext cx="1016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Nota fiscal não aceita erro. Construímos para não errar.</a:t>
            </a:r>
            <a:endParaRPr lang="en-US" sz="3600" dirty="0"/>
          </a:p>
        </p:txBody>
      </p:sp>
      <p:sp>
        <p:nvSpPr>
          <p:cNvPr id="4" name="card-71"/>
          <p:cNvSpPr/>
          <p:nvPr/>
        </p:nvSpPr>
        <p:spPr>
          <a:xfrm>
            <a:off x="812800" y="2540000"/>
            <a:ext cx="5181600" cy="15748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/>
        </p:spPr>
      </p:sp>
      <p:pic>
        <p:nvPicPr>
          <p:cNvPr id="5" name="icon-PiLockBold" descr="Lo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6800" y="2794000"/>
            <a:ext cx="406400" cy="406400"/>
          </a:xfrm>
          <a:prstGeom prst="rect">
            <a:avLst/>
          </a:prstGeom>
        </p:spPr>
      </p:pic>
      <p:sp>
        <p:nvSpPr>
          <p:cNvPr id="6" name="text-72"/>
          <p:cNvSpPr txBox="1"/>
          <p:nvPr/>
        </p:nvSpPr>
        <p:spPr>
          <a:xfrm>
            <a:off x="1676400" y="2768600"/>
            <a:ext cx="406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Certificado protegido</a:t>
            </a:r>
            <a:endParaRPr lang="en-US" sz="2000" dirty="0"/>
          </a:p>
        </p:txBody>
      </p:sp>
      <p:sp>
        <p:nvSpPr>
          <p:cNvPr id="7" name="text-73"/>
          <p:cNvSpPr txBox="1"/>
          <p:nvPr/>
        </p:nvSpPr>
        <p:spPr>
          <a:xfrm>
            <a:off x="1676400" y="3175000"/>
            <a:ext cx="406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Criptografia AES-256-GCM, com a chave fora do banco de dados.</a:t>
            </a:r>
            <a:endParaRPr lang="en-US" sz="1400" dirty="0"/>
          </a:p>
        </p:txBody>
      </p:sp>
      <p:sp>
        <p:nvSpPr>
          <p:cNvPr id="8" name="card-74"/>
          <p:cNvSpPr/>
          <p:nvPr/>
        </p:nvSpPr>
        <p:spPr>
          <a:xfrm>
            <a:off x="6197600" y="2540000"/>
            <a:ext cx="5181600" cy="15748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/>
        </p:spPr>
      </p:sp>
      <p:pic>
        <p:nvPicPr>
          <p:cNvPr id="9" name="icon-PiCheckCircleBold" descr="CheckCirc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1600" y="2794000"/>
            <a:ext cx="406400" cy="406400"/>
          </a:xfrm>
          <a:prstGeom prst="rect">
            <a:avLst/>
          </a:prstGeom>
        </p:spPr>
      </p:pic>
      <p:sp>
        <p:nvSpPr>
          <p:cNvPr id="10" name="text-75"/>
          <p:cNvSpPr txBox="1"/>
          <p:nvPr/>
        </p:nvSpPr>
        <p:spPr>
          <a:xfrm>
            <a:off x="7061200" y="2768600"/>
            <a:ext cx="406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Nunca emite duas vezes</a:t>
            </a:r>
            <a:endParaRPr lang="en-US" sz="2000" dirty="0"/>
          </a:p>
        </p:txBody>
      </p:sp>
      <p:sp>
        <p:nvSpPr>
          <p:cNvPr id="11" name="text-76"/>
          <p:cNvSpPr txBox="1"/>
          <p:nvPr/>
        </p:nvSpPr>
        <p:spPr>
          <a:xfrm>
            <a:off x="7061200" y="3175000"/>
            <a:ext cx="406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Cada falha de rede é conferida no sistema nacional antes de tentar de novo.</a:t>
            </a:r>
            <a:endParaRPr lang="en-US" sz="1400" dirty="0"/>
          </a:p>
        </p:txBody>
      </p:sp>
      <p:sp>
        <p:nvSpPr>
          <p:cNvPr id="12" name="card-77"/>
          <p:cNvSpPr/>
          <p:nvPr/>
        </p:nvSpPr>
        <p:spPr>
          <a:xfrm>
            <a:off x="812800" y="4267200"/>
            <a:ext cx="5181600" cy="15748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/>
        </p:spPr>
      </p:sp>
      <p:pic>
        <p:nvPicPr>
          <p:cNvPr id="13" name="icon-PiPulseBold" descr="Pul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4521200"/>
            <a:ext cx="406400" cy="406400"/>
          </a:xfrm>
          <a:prstGeom prst="rect">
            <a:avLst/>
          </a:prstGeom>
        </p:spPr>
      </p:pic>
      <p:sp>
        <p:nvSpPr>
          <p:cNvPr id="14" name="text-78"/>
          <p:cNvSpPr txBox="1"/>
          <p:nvPr/>
        </p:nvSpPr>
        <p:spPr>
          <a:xfrm>
            <a:off x="1676400" y="4495800"/>
            <a:ext cx="406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Vigiado o tempo todo</a:t>
            </a:r>
            <a:endParaRPr lang="en-US" sz="2000" dirty="0"/>
          </a:p>
        </p:txBody>
      </p:sp>
      <p:sp>
        <p:nvSpPr>
          <p:cNvPr id="15" name="text-79"/>
          <p:cNvSpPr txBox="1"/>
          <p:nvPr/>
        </p:nvSpPr>
        <p:spPr>
          <a:xfrm>
            <a:off x="1676400" y="4902200"/>
            <a:ext cx="406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Métricas, alertas e verificação externa avisam o time antes do cliente.</a:t>
            </a:r>
            <a:endParaRPr lang="en-US" sz="1400" dirty="0"/>
          </a:p>
        </p:txBody>
      </p:sp>
      <p:sp>
        <p:nvSpPr>
          <p:cNvPr id="16" name="card-80"/>
          <p:cNvSpPr/>
          <p:nvPr/>
        </p:nvSpPr>
        <p:spPr>
          <a:xfrm>
            <a:off x="6197600" y="4267200"/>
            <a:ext cx="5181600" cy="1574800"/>
          </a:xfrm>
          <a:prstGeom prst="roundRect">
            <a:avLst>
              <a:gd name="adj" fmla="val 6452"/>
            </a:avLst>
          </a:prstGeom>
          <a:solidFill>
            <a:schemeClr val="bg1"/>
          </a:solidFill>
          <a:ln/>
        </p:spPr>
      </p:sp>
      <p:pic>
        <p:nvPicPr>
          <p:cNvPr id="17" name="icon-PiGlobeBold" descr="Glob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1600" y="4521200"/>
            <a:ext cx="406400" cy="406400"/>
          </a:xfrm>
          <a:prstGeom prst="rect">
            <a:avLst/>
          </a:prstGeom>
        </p:spPr>
      </p:pic>
      <p:sp>
        <p:nvSpPr>
          <p:cNvPr id="18" name="text-81"/>
          <p:cNvSpPr txBox="1"/>
          <p:nvPr/>
        </p:nvSpPr>
        <p:spPr>
          <a:xfrm>
            <a:off x="7061200" y="4495800"/>
            <a:ext cx="4064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Dados no Brasil</a:t>
            </a:r>
            <a:endParaRPr lang="en-US" sz="2000" dirty="0"/>
          </a:p>
        </p:txBody>
      </p:sp>
      <p:sp>
        <p:nvSpPr>
          <p:cNvPr id="19" name="text-82"/>
          <p:cNvSpPr txBox="1"/>
          <p:nvPr/>
        </p:nvSpPr>
        <p:spPr>
          <a:xfrm>
            <a:off x="7061200" y="4902200"/>
            <a:ext cx="4064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Servidor no Brasil, backup externo, trilha de auditoria e teste de invasão feito.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299200"/>
            <a:ext cx="1270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MODELO DE NEGÓCIO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812800" y="1168400"/>
            <a:ext cx="1016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Grátis para entrar. Receita onde está a complexidade.</a:t>
            </a:r>
            <a:endParaRPr lang="en-US" sz="3600" dirty="0"/>
          </a:p>
        </p:txBody>
      </p:sp>
      <p:sp>
        <p:nvSpPr>
          <p:cNvPr id="4" name="card-83"/>
          <p:cNvSpPr/>
          <p:nvPr/>
        </p:nvSpPr>
        <p:spPr>
          <a:xfrm>
            <a:off x="812800" y="2540000"/>
            <a:ext cx="3048000" cy="317500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text-84"/>
          <p:cNvSpPr txBox="1"/>
          <p:nvPr/>
        </p:nvSpPr>
        <p:spPr>
          <a:xfrm>
            <a:off x="1066800" y="2794000"/>
            <a:ext cx="254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1 · AQUISIÇÃO</a:t>
            </a:r>
            <a:endParaRPr lang="en-US" sz="1200" dirty="0"/>
          </a:p>
        </p:txBody>
      </p:sp>
      <p:sp>
        <p:nvSpPr>
          <p:cNvPr id="6" name="text-85"/>
          <p:cNvSpPr txBox="1"/>
          <p:nvPr/>
        </p:nvSpPr>
        <p:spPr>
          <a:xfrm>
            <a:off x="1066800" y="31242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Emissão grátis e sem limite</a:t>
            </a:r>
            <a:endParaRPr lang="en-US" sz="2000" dirty="0"/>
          </a:p>
        </p:txBody>
      </p:sp>
      <p:sp>
        <p:nvSpPr>
          <p:cNvPr id="7" name="text-86"/>
          <p:cNvSpPr txBox="1"/>
          <p:nvPr/>
        </p:nvSpPr>
        <p:spPr>
          <a:xfrm>
            <a:off x="1066800" y="3911600"/>
            <a:ext cx="254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Sem cartão e sem limite de notas. Um guia contábil com calculadora do Simples traz tráfego orgânico.</a:t>
            </a:r>
            <a:endParaRPr lang="en-US" sz="1400" dirty="0"/>
          </a:p>
        </p:txBody>
      </p:sp>
      <p:sp>
        <p:nvSpPr>
          <p:cNvPr id="8" name="arrow-0"/>
          <p:cNvSpPr/>
          <p:nvPr/>
        </p:nvSpPr>
        <p:spPr>
          <a:xfrm>
            <a:off x="3962400" y="4025900"/>
            <a:ext cx="406400" cy="2032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9" name="card-87"/>
          <p:cNvSpPr/>
          <p:nvPr/>
        </p:nvSpPr>
        <p:spPr>
          <a:xfrm>
            <a:off x="4470400" y="2540000"/>
            <a:ext cx="3048000" cy="317500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text-88"/>
          <p:cNvSpPr txBox="1"/>
          <p:nvPr/>
        </p:nvSpPr>
        <p:spPr>
          <a:xfrm>
            <a:off x="4724400" y="2794000"/>
            <a:ext cx="254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2 · RECEITA</a:t>
            </a:r>
            <a:endParaRPr lang="en-US" sz="1200" dirty="0"/>
          </a:p>
        </p:txBody>
      </p:sp>
      <p:sp>
        <p:nvSpPr>
          <p:cNvPr id="11" name="text-89"/>
          <p:cNvSpPr txBox="1"/>
          <p:nvPr/>
        </p:nvSpPr>
        <p:spPr>
          <a:xfrm>
            <a:off x="4724400" y="31242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Planos pagos</a:t>
            </a:r>
            <a:endParaRPr lang="en-US" sz="2000" dirty="0"/>
          </a:p>
        </p:txBody>
      </p:sp>
      <p:sp>
        <p:nvSpPr>
          <p:cNvPr id="12" name="text-90"/>
          <p:cNvSpPr txBox="1"/>
          <p:nvPr/>
        </p:nvSpPr>
        <p:spPr>
          <a:xfrm>
            <a:off x="4724400" y="3911600"/>
            <a:ext cx="254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Recursos avançados por assinatura: [definir, ex.: envio automático, várias empresas, acesso do contador].</a:t>
            </a:r>
            <a:endParaRPr lang="en-US" sz="1400" dirty="0"/>
          </a:p>
        </p:txBody>
      </p:sp>
      <p:sp>
        <p:nvSpPr>
          <p:cNvPr id="13" name="arrow-1"/>
          <p:cNvSpPr/>
          <p:nvPr/>
        </p:nvSpPr>
        <p:spPr>
          <a:xfrm>
            <a:off x="7620000" y="4025900"/>
            <a:ext cx="406400" cy="2032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4" name="card-91"/>
          <p:cNvSpPr/>
          <p:nvPr/>
        </p:nvSpPr>
        <p:spPr>
          <a:xfrm>
            <a:off x="8128000" y="2540000"/>
            <a:ext cx="3048000" cy="317500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15" name="text-92"/>
          <p:cNvSpPr txBox="1"/>
          <p:nvPr/>
        </p:nvSpPr>
        <p:spPr>
          <a:xfrm>
            <a:off x="8382000" y="2794000"/>
            <a:ext cx="254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3 · EXPANSÃO</a:t>
            </a:r>
            <a:endParaRPr lang="en-US" sz="1200" dirty="0"/>
          </a:p>
        </p:txBody>
      </p:sp>
      <p:sp>
        <p:nvSpPr>
          <p:cNvPr id="16" name="text-93"/>
          <p:cNvSpPr txBox="1"/>
          <p:nvPr/>
        </p:nvSpPr>
        <p:spPr>
          <a:xfrm>
            <a:off x="8382000" y="3124200"/>
            <a:ext cx="254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4F5FB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Certificado no app</a:t>
            </a:r>
            <a:endParaRPr lang="en-US" sz="2000" dirty="0"/>
          </a:p>
        </p:txBody>
      </p:sp>
      <p:sp>
        <p:nvSpPr>
          <p:cNvPr id="17" name="text-94"/>
          <p:cNvSpPr txBox="1"/>
          <p:nvPr/>
        </p:nvSpPr>
        <p:spPr>
          <a:xfrm>
            <a:off x="8382000" y="3911600"/>
            <a:ext cx="2540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O certificado A1 vendido dentro do NotaFlow, com uma certificadora parceira (em negociação).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299200"/>
            <a:ext cx="1270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ONDE QUEREMOS CHEGAR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812800" y="1168400"/>
            <a:ext cx="1016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Da nota de serviço do Simples a toda nota do pequeno negócio.</a:t>
            </a:r>
            <a:endParaRPr lang="en-US" sz="3600" dirty="0"/>
          </a:p>
        </p:txBody>
      </p:sp>
      <p:sp>
        <p:nvSpPr>
          <p:cNvPr id="4" name="card-95"/>
          <p:cNvSpPr/>
          <p:nvPr/>
        </p:nvSpPr>
        <p:spPr>
          <a:xfrm>
            <a:off x="812800" y="2540000"/>
            <a:ext cx="3384550" cy="292100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/>
        </p:spPr>
      </p:sp>
      <p:sp>
        <p:nvSpPr>
          <p:cNvPr id="5" name="text-96"/>
          <p:cNvSpPr txBox="1"/>
          <p:nvPr/>
        </p:nvSpPr>
        <p:spPr>
          <a:xfrm>
            <a:off x="1066800" y="2794000"/>
            <a:ext cx="287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AGORA · FIM DE 2026</a:t>
            </a:r>
            <a:endParaRPr lang="en-US" sz="1200" dirty="0"/>
          </a:p>
        </p:txBody>
      </p:sp>
      <p:sp>
        <p:nvSpPr>
          <p:cNvPr id="6" name="road-list-0"/>
          <p:cNvSpPr txBox="1"/>
          <p:nvPr/>
        </p:nvSpPr>
        <p:spPr>
          <a:xfrm>
            <a:off x="1066800" y="3175000"/>
            <a:ext cx="28765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5FB"/>
                </a:solidFill>
              </a:rPr>
              <a:t>IBS e CBS completos em toda nota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5FB"/>
                </a:solidFill>
              </a:rPr>
              <a:t>Guia contábil e calculadora do Simples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4F5FB"/>
                </a:solidFill>
              </a:rPr>
              <a:t>Certificado A1 dentro do app</a:t>
            </a:r>
            <a:endParaRPr lang="en-US" sz="1400" dirty="0"/>
          </a:p>
        </p:txBody>
      </p:sp>
      <p:sp>
        <p:nvSpPr>
          <p:cNvPr id="7" name="card-97"/>
          <p:cNvSpPr/>
          <p:nvPr/>
        </p:nvSpPr>
        <p:spPr>
          <a:xfrm>
            <a:off x="4400550" y="2540000"/>
            <a:ext cx="3384550" cy="292100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text-98"/>
          <p:cNvSpPr txBox="1"/>
          <p:nvPr/>
        </p:nvSpPr>
        <p:spPr>
          <a:xfrm>
            <a:off x="4654550" y="2794000"/>
            <a:ext cx="287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2027</a:t>
            </a:r>
            <a:endParaRPr lang="en-US" sz="1200" dirty="0"/>
          </a:p>
        </p:txBody>
      </p:sp>
      <p:sp>
        <p:nvSpPr>
          <p:cNvPr id="9" name="road-list-1"/>
          <p:cNvSpPr txBox="1"/>
          <p:nvPr/>
        </p:nvSpPr>
        <p:spPr>
          <a:xfrm>
            <a:off x="4654550" y="3175000"/>
            <a:ext cx="28765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3"/>
                </a:solidFill>
              </a:rPr>
              <a:t>MEI e Lucro Presumido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3"/>
                </a:solidFill>
              </a:rPr>
              <a:t>Nota enviada por e-mail, com PDF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3"/>
                </a:solidFill>
              </a:rPr>
              <a:t>Planos pagos</a:t>
            </a:r>
            <a:endParaRPr lang="en-US" sz="1400" dirty="0"/>
          </a:p>
        </p:txBody>
      </p:sp>
      <p:sp>
        <p:nvSpPr>
          <p:cNvPr id="10" name="card-99"/>
          <p:cNvSpPr/>
          <p:nvPr/>
        </p:nvSpPr>
        <p:spPr>
          <a:xfrm>
            <a:off x="7988300" y="2540000"/>
            <a:ext cx="3384550" cy="2921000"/>
          </a:xfrm>
          <a:prstGeom prst="roundRect">
            <a:avLst>
              <a:gd name="adj" fmla="val 3478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" name="text-100"/>
          <p:cNvSpPr txBox="1"/>
          <p:nvPr/>
        </p:nvSpPr>
        <p:spPr>
          <a:xfrm>
            <a:off x="8242300" y="2794000"/>
            <a:ext cx="2876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spc="150" kern="0" dirty="0">
                <a:solidFill>
                  <a:schemeClr val="accent1"/>
                </a:solidFill>
              </a:rPr>
              <a:t>DEPOIS</a:t>
            </a:r>
            <a:endParaRPr lang="en-US" sz="1200" dirty="0"/>
          </a:p>
        </p:txBody>
      </p:sp>
      <p:sp>
        <p:nvSpPr>
          <p:cNvPr id="12" name="road-list-2"/>
          <p:cNvSpPr txBox="1"/>
          <p:nvPr/>
        </p:nvSpPr>
        <p:spPr>
          <a:xfrm>
            <a:off x="8242300" y="3175000"/>
            <a:ext cx="287655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3"/>
                </a:solidFill>
              </a:rPr>
              <a:t>Prefeituras fora do sistema nacional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3"/>
                </a:solidFill>
              </a:rPr>
              <a:t>NF-e de produto</a:t>
            </a:r>
            <a:endParaRPr lang="en-US" sz="14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accent3"/>
                </a:solidFill>
              </a:rPr>
              <a:t>Uma conta para toda a vida fiscal da empresa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299200"/>
            <a:ext cx="1270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-101"/>
          <p:cNvSpPr/>
          <p:nvPr/>
        </p:nvSpPr>
        <p:spPr>
          <a:xfrm>
            <a:off x="-1524000" y="3556000"/>
            <a:ext cx="4826000" cy="4826000"/>
          </a:xfrm>
          <a:prstGeom prst="ellipse">
            <a:avLst/>
          </a:prstGeom>
          <a:ln w="12700">
            <a:solidFill>
              <a:schemeClr val="accent5"/>
            </a:solidFill>
            <a:prstDash val="solid"/>
          </a:ln>
        </p:spPr>
      </p:sp>
      <p:sp>
        <p:nvSpPr>
          <p:cNvPr id="3" name="Text 0"/>
          <p:cNvSpPr/>
          <p:nvPr>
            <p:ph idx="100" type="body" hasCustomPrompt="1"/>
          </p:nvPr>
        </p:nvSpPr>
        <p:spPr>
          <a:xfrm>
            <a:off x="812800" y="1270000"/>
            <a:ext cx="825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NOSSA VISÃO</a:t>
            </a:r>
            <a:endParaRPr lang="en-US" sz="14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812800" y="1714500"/>
            <a:ext cx="10160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5200" b="1" dirty="0">
                <a:solidFill>
                  <a:srgbClr val="F4F5FB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Nosso objetivo é um só: descomplicar o que parece complicado.</a:t>
            </a:r>
            <a:endParaRPr lang="en-US" sz="5200" dirty="0"/>
          </a:p>
        </p:txBody>
      </p:sp>
      <p:sp>
        <p:nvSpPr>
          <p:cNvPr id="5" name="vision-sub"/>
          <p:cNvSpPr txBox="1"/>
          <p:nvPr/>
        </p:nvSpPr>
        <p:spPr>
          <a:xfrm>
            <a:off x="812800" y="4445000"/>
            <a:ext cx="825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chemeClr val="accent4"/>
                </a:solidFill>
              </a:rPr>
              <a:t>Quando o dono de uma pequena empresa pensar em nota fiscal, a resposta vai ser uma só: </a:t>
            </a:r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chemeClr val="accent2"/>
                </a:solidFill>
              </a:rPr>
              <a:t>é só abrir o NotaFlow.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QUEM CONSTRÓI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812800" y="1168400"/>
            <a:ext cx="1016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Um time pequeno que entrega como um grande.</a:t>
            </a:r>
            <a:endParaRPr lang="en-US" sz="3600" dirty="0"/>
          </a:p>
        </p:txBody>
      </p:sp>
      <p:sp>
        <p:nvSpPr>
          <p:cNvPr id="4" name="card-102"/>
          <p:cNvSpPr/>
          <p:nvPr/>
        </p:nvSpPr>
        <p:spPr>
          <a:xfrm>
            <a:off x="812800" y="2540000"/>
            <a:ext cx="6248400" cy="2667000"/>
          </a:xfrm>
          <a:prstGeom prst="roundRect">
            <a:avLst>
              <a:gd name="adj" fmla="val 3810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5" name="avatar-ls"/>
          <p:cNvSpPr txBox="1"/>
          <p:nvPr/>
        </p:nvSpPr>
        <p:spPr>
          <a:xfrm>
            <a:off x="1117600" y="2844800"/>
            <a:ext cx="1016000" cy="101600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LS</a:t>
            </a:r>
            <a:endParaRPr lang="en-US" sz="3200" dirty="0"/>
          </a:p>
        </p:txBody>
      </p:sp>
      <p:sp>
        <p:nvSpPr>
          <p:cNvPr id="6" name="text-103"/>
          <p:cNvSpPr txBox="1"/>
          <p:nvPr/>
        </p:nvSpPr>
        <p:spPr>
          <a:xfrm>
            <a:off x="2387600" y="2844800"/>
            <a:ext cx="444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Lincoln Santos</a:t>
            </a:r>
            <a:endParaRPr lang="en-US" sz="2200" dirty="0"/>
          </a:p>
        </p:txBody>
      </p:sp>
      <p:sp>
        <p:nvSpPr>
          <p:cNvPr id="7" name="text-104"/>
          <p:cNvSpPr txBox="1"/>
          <p:nvPr/>
        </p:nvSpPr>
        <p:spPr>
          <a:xfrm>
            <a:off x="2387600" y="3276600"/>
            <a:ext cx="444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Fundador e engenheiro · Vapulab</a:t>
            </a:r>
            <a:endParaRPr lang="en-US" sz="1400" dirty="0"/>
          </a:p>
        </p:txBody>
      </p:sp>
      <p:sp>
        <p:nvSpPr>
          <p:cNvPr id="8" name="text-105"/>
          <p:cNvSpPr txBox="1"/>
          <p:nvPr/>
        </p:nvSpPr>
        <p:spPr>
          <a:xfrm>
            <a:off x="2387600" y="3632200"/>
            <a:ext cx="44196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Construiu o NotaFlow de ponta a ponta: produto, integração com o sistema nacional, segurança e operação. [Adicionar experiência anterior.]</a:t>
            </a:r>
            <a:endParaRPr lang="en-US" sz="1400" dirty="0"/>
          </a:p>
        </p:txBody>
      </p:sp>
      <p:sp>
        <p:nvSpPr>
          <p:cNvPr id="9" name="card-106"/>
          <p:cNvSpPr/>
          <p:nvPr/>
        </p:nvSpPr>
        <p:spPr>
          <a:xfrm>
            <a:off x="7264400" y="2540000"/>
            <a:ext cx="4114800" cy="266700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9050">
            <a:solidFill>
              <a:srgbClr val="B8BFD6"/>
            </a:solidFill>
            <a:prstDash val="dash"/>
          </a:ln>
        </p:spPr>
      </p:sp>
      <p:sp>
        <p:nvSpPr>
          <p:cNvPr id="10" name="text-107"/>
          <p:cNvSpPr txBox="1"/>
          <p:nvPr/>
        </p:nvSpPr>
        <p:spPr>
          <a:xfrm>
            <a:off x="7569200" y="2844800"/>
            <a:ext cx="3505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[Nome]</a:t>
            </a:r>
            <a:endParaRPr lang="en-US" sz="2200" dirty="0"/>
          </a:p>
        </p:txBody>
      </p:sp>
      <p:sp>
        <p:nvSpPr>
          <p:cNvPr id="11" name="text-108"/>
          <p:cNvSpPr txBox="1"/>
          <p:nvPr/>
        </p:nvSpPr>
        <p:spPr>
          <a:xfrm>
            <a:off x="7569200" y="3276600"/>
            <a:ext cx="3505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chemeClr val="accent1"/>
                </a:solidFill>
              </a:rPr>
              <a:t>[Papel]</a:t>
            </a:r>
            <a:endParaRPr lang="en-US" sz="1400" dirty="0"/>
          </a:p>
        </p:txBody>
      </p:sp>
      <p:sp>
        <p:nvSpPr>
          <p:cNvPr id="12" name="text-109"/>
          <p:cNvSpPr txBox="1"/>
          <p:nvPr/>
        </p:nvSpPr>
        <p:spPr>
          <a:xfrm>
            <a:off x="7569200" y="3632200"/>
            <a:ext cx="3505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3"/>
                </a:solidFill>
              </a:rPr>
              <a:t>[Sócio, conselheiro ou próxima contratação com o investimento.]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299200"/>
            <a:ext cx="1270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812800" y="812800"/>
            <a:ext cx="1056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 RODADA</a:t>
            </a:r>
            <a:endParaRPr lang="en-US" sz="12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812800" y="1168400"/>
            <a:ext cx="1016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6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Investimento para transformar produto pronto em escala.</a:t>
            </a:r>
            <a:endParaRPr lang="en-US" sz="3600" dirty="0"/>
          </a:p>
        </p:txBody>
      </p:sp>
      <p:sp>
        <p:nvSpPr>
          <p:cNvPr id="4" name="card-110"/>
          <p:cNvSpPr/>
          <p:nvPr/>
        </p:nvSpPr>
        <p:spPr>
          <a:xfrm>
            <a:off x="812800" y="2540000"/>
            <a:ext cx="3937000" cy="279400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/>
        </p:spPr>
      </p:sp>
      <p:sp>
        <p:nvSpPr>
          <p:cNvPr id="5" name="text-111"/>
          <p:cNvSpPr txBox="1"/>
          <p:nvPr/>
        </p:nvSpPr>
        <p:spPr>
          <a:xfrm>
            <a:off x="1117600" y="2844800"/>
            <a:ext cx="332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b="1" spc="150" kern="0" dirty="0">
                <a:solidFill>
                  <a:schemeClr val="accent2"/>
                </a:solidFill>
              </a:rPr>
              <a:t>CAPTAÇÃO</a:t>
            </a:r>
            <a:endParaRPr lang="en-US" sz="1200" dirty="0"/>
          </a:p>
        </p:txBody>
      </p:sp>
      <p:sp>
        <p:nvSpPr>
          <p:cNvPr id="6" name="text-112"/>
          <p:cNvSpPr txBox="1"/>
          <p:nvPr/>
        </p:nvSpPr>
        <p:spPr>
          <a:xfrm>
            <a:off x="1117600" y="3175000"/>
            <a:ext cx="33274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F4F5FB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[R$ __]</a:t>
            </a:r>
            <a:endParaRPr lang="en-US" sz="6000" dirty="0"/>
          </a:p>
        </p:txBody>
      </p:sp>
      <p:sp>
        <p:nvSpPr>
          <p:cNvPr id="7" name="text-113"/>
          <p:cNvSpPr txBox="1"/>
          <p:nvPr/>
        </p:nvSpPr>
        <p:spPr>
          <a:xfrm>
            <a:off x="1117600" y="4127500"/>
            <a:ext cx="3327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chemeClr val="accent4"/>
                </a:solidFill>
              </a:rPr>
              <a:t>Meta em [18] meses: [__] empresas emitindo e [R$ __] de receita recorrente por mês.</a:t>
            </a:r>
            <a:endParaRPr lang="en-US" sz="1400" dirty="0"/>
          </a:p>
        </p:txBody>
      </p:sp>
      <p:sp>
        <p:nvSpPr>
          <p:cNvPr id="8" name="text-114"/>
          <p:cNvSpPr txBox="1"/>
          <p:nvPr/>
        </p:nvSpPr>
        <p:spPr>
          <a:xfrm>
            <a:off x="5156200" y="2603500"/>
            <a:ext cx="381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Produto</a:t>
            </a:r>
            <a:endParaRPr lang="en-US" sz="1600" dirty="0"/>
          </a:p>
        </p:txBody>
      </p:sp>
      <p:sp>
        <p:nvSpPr>
          <p:cNvPr id="9" name="text-115"/>
          <p:cNvSpPr txBox="1"/>
          <p:nvPr/>
        </p:nvSpPr>
        <p:spPr>
          <a:xfrm>
            <a:off x="10109200" y="2603500"/>
            <a:ext cx="127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</a:rPr>
              <a:t>[__%]</a:t>
            </a:r>
            <a:endParaRPr lang="en-US" sz="1600" dirty="0"/>
          </a:p>
        </p:txBody>
      </p:sp>
      <p:sp>
        <p:nvSpPr>
          <p:cNvPr id="10" name="bar-track-0"/>
          <p:cNvSpPr/>
          <p:nvPr/>
        </p:nvSpPr>
        <p:spPr>
          <a:xfrm>
            <a:off x="5156200" y="2959100"/>
            <a:ext cx="6223000" cy="127000"/>
          </a:xfrm>
          <a:prstGeom prst="roundRect">
            <a:avLst>
              <a:gd name="adj" fmla="val 50000"/>
            </a:avLst>
          </a:prstGeom>
          <a:solidFill>
            <a:srgbClr val="D5D9E6"/>
          </a:solidFill>
          <a:ln/>
        </p:spPr>
      </p:sp>
      <p:sp>
        <p:nvSpPr>
          <p:cNvPr id="11" name="bar-fill-0"/>
          <p:cNvSpPr/>
          <p:nvPr/>
        </p:nvSpPr>
        <p:spPr>
          <a:xfrm>
            <a:off x="5156200" y="2959100"/>
            <a:ext cx="2703041" cy="127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2" name="text-116"/>
          <p:cNvSpPr txBox="1"/>
          <p:nvPr/>
        </p:nvSpPr>
        <p:spPr>
          <a:xfrm>
            <a:off x="5156200" y="3175000"/>
            <a:ext cx="62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chemeClr val="accent3"/>
                </a:solidFill>
              </a:rPr>
              <a:t>MEI, Lucro Presumido, prefeituras e NF-e</a:t>
            </a:r>
            <a:endParaRPr lang="en-US" sz="1200" dirty="0"/>
          </a:p>
        </p:txBody>
      </p:sp>
      <p:sp>
        <p:nvSpPr>
          <p:cNvPr id="13" name="text-117"/>
          <p:cNvSpPr txBox="1"/>
          <p:nvPr/>
        </p:nvSpPr>
        <p:spPr>
          <a:xfrm>
            <a:off x="5156200" y="3556000"/>
            <a:ext cx="381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Aquisição</a:t>
            </a:r>
            <a:endParaRPr lang="en-US" sz="1600" dirty="0"/>
          </a:p>
        </p:txBody>
      </p:sp>
      <p:sp>
        <p:nvSpPr>
          <p:cNvPr id="14" name="text-118"/>
          <p:cNvSpPr txBox="1"/>
          <p:nvPr/>
        </p:nvSpPr>
        <p:spPr>
          <a:xfrm>
            <a:off x="10109200" y="3556000"/>
            <a:ext cx="127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</a:rPr>
              <a:t>[__%]</a:t>
            </a:r>
            <a:endParaRPr lang="en-US" sz="1600" dirty="0"/>
          </a:p>
        </p:txBody>
      </p:sp>
      <p:sp>
        <p:nvSpPr>
          <p:cNvPr id="15" name="bar-track-1"/>
          <p:cNvSpPr/>
          <p:nvPr/>
        </p:nvSpPr>
        <p:spPr>
          <a:xfrm>
            <a:off x="5156200" y="3911600"/>
            <a:ext cx="6223000" cy="127000"/>
          </a:xfrm>
          <a:prstGeom prst="roundRect">
            <a:avLst>
              <a:gd name="adj" fmla="val 50000"/>
            </a:avLst>
          </a:prstGeom>
          <a:solidFill>
            <a:srgbClr val="D5D9E6"/>
          </a:solidFill>
          <a:ln/>
        </p:spPr>
      </p:sp>
      <p:sp>
        <p:nvSpPr>
          <p:cNvPr id="16" name="bar-fill-1"/>
          <p:cNvSpPr/>
          <p:nvPr/>
        </p:nvSpPr>
        <p:spPr>
          <a:xfrm>
            <a:off x="5156200" y="3911600"/>
            <a:ext cx="1982230" cy="127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7" name="text-119"/>
          <p:cNvSpPr txBox="1"/>
          <p:nvPr/>
        </p:nvSpPr>
        <p:spPr>
          <a:xfrm>
            <a:off x="5156200" y="4127500"/>
            <a:ext cx="62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chemeClr val="accent3"/>
                </a:solidFill>
              </a:rPr>
              <a:t>Guia contábil, conteúdo e parceria com contadores</a:t>
            </a:r>
            <a:endParaRPr lang="en-US" sz="1200" dirty="0"/>
          </a:p>
        </p:txBody>
      </p:sp>
      <p:sp>
        <p:nvSpPr>
          <p:cNvPr id="18" name="text-120"/>
          <p:cNvSpPr txBox="1"/>
          <p:nvPr/>
        </p:nvSpPr>
        <p:spPr>
          <a:xfrm>
            <a:off x="5156200" y="4508500"/>
            <a:ext cx="381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chemeClr val="tx2"/>
                </a:solidFill>
              </a:rPr>
              <a:t>Time</a:t>
            </a:r>
            <a:endParaRPr lang="en-US" sz="1600" dirty="0"/>
          </a:p>
        </p:txBody>
      </p:sp>
      <p:sp>
        <p:nvSpPr>
          <p:cNvPr id="19" name="text-121"/>
          <p:cNvSpPr txBox="1"/>
          <p:nvPr/>
        </p:nvSpPr>
        <p:spPr>
          <a:xfrm>
            <a:off x="10109200" y="4508500"/>
            <a:ext cx="1270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chemeClr val="accent1"/>
                </a:solidFill>
              </a:rPr>
              <a:t>[__%]</a:t>
            </a:r>
            <a:endParaRPr lang="en-US" sz="1600" dirty="0"/>
          </a:p>
        </p:txBody>
      </p:sp>
      <p:sp>
        <p:nvSpPr>
          <p:cNvPr id="20" name="bar-track-2"/>
          <p:cNvSpPr/>
          <p:nvPr/>
        </p:nvSpPr>
        <p:spPr>
          <a:xfrm>
            <a:off x="5156200" y="4864100"/>
            <a:ext cx="6223000" cy="127000"/>
          </a:xfrm>
          <a:prstGeom prst="roundRect">
            <a:avLst>
              <a:gd name="adj" fmla="val 50000"/>
            </a:avLst>
          </a:prstGeom>
          <a:solidFill>
            <a:srgbClr val="D5D9E6"/>
          </a:solidFill>
          <a:ln/>
        </p:spPr>
      </p:sp>
      <p:sp>
        <p:nvSpPr>
          <p:cNvPr id="21" name="bar-fill-2"/>
          <p:cNvSpPr/>
          <p:nvPr/>
        </p:nvSpPr>
        <p:spPr>
          <a:xfrm>
            <a:off x="5156200" y="4864100"/>
            <a:ext cx="1321486" cy="127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2" name="text-122"/>
          <p:cNvSpPr txBox="1"/>
          <p:nvPr/>
        </p:nvSpPr>
        <p:spPr>
          <a:xfrm>
            <a:off x="5156200" y="5080000"/>
            <a:ext cx="622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chemeClr val="accent3"/>
                </a:solidFill>
              </a:rPr>
              <a:t>Suporte, comercial e engenharia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09200" y="6299200"/>
            <a:ext cx="1270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B647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ng-123"/>
          <p:cNvSpPr/>
          <p:nvPr/>
        </p:nvSpPr>
        <p:spPr>
          <a:xfrm>
            <a:off x="7874000" y="-1016000"/>
            <a:ext cx="5715000" cy="5715000"/>
          </a:xfrm>
          <a:prstGeom prst="ellipse">
            <a:avLst/>
          </a:prstGeom>
          <a:ln w="12700">
            <a:solidFill>
              <a:schemeClr val="accent5"/>
            </a:solidFill>
            <a:prstDash val="solid"/>
          </a:ln>
        </p:spPr>
      </p:sp>
      <p:sp>
        <p:nvSpPr>
          <p:cNvPr id="3" name="ring-124"/>
          <p:cNvSpPr/>
          <p:nvPr/>
        </p:nvSpPr>
        <p:spPr>
          <a:xfrm>
            <a:off x="9017000" y="127000"/>
            <a:ext cx="3429000" cy="3429000"/>
          </a:xfrm>
          <a:prstGeom prst="ellipse">
            <a:avLst/>
          </a:prstGeom>
          <a:ln w="12700">
            <a:solidFill>
              <a:srgbClr val="343CB8"/>
            </a:solidFill>
            <a:prstDash val="solid"/>
          </a:ln>
        </p:spPr>
      </p:sp>
      <p:sp>
        <p:nvSpPr>
          <p:cNvPr id="4" name="gold-dot"/>
          <p:cNvSpPr/>
          <p:nvPr/>
        </p:nvSpPr>
        <p:spPr>
          <a:xfrm>
            <a:off x="9906000" y="1016000"/>
            <a:ext cx="762000" cy="7620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12800" y="1905000"/>
            <a:ext cx="825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4F5FB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NotaFlow</a:t>
            </a:r>
            <a:endParaRPr lang="en-US" sz="8000" dirty="0"/>
          </a:p>
        </p:txBody>
      </p:sp>
      <p:sp>
        <p:nvSpPr>
          <p:cNvPr id="6" name="text-125"/>
          <p:cNvSpPr txBox="1"/>
          <p:nvPr/>
        </p:nvSpPr>
        <p:spPr>
          <a:xfrm>
            <a:off x="812800" y="3175000"/>
            <a:ext cx="762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Vamos descomplicar juntos.</a:t>
            </a:r>
            <a:endParaRPr lang="en-US" sz="2800" dirty="0"/>
          </a:p>
        </p:txBody>
      </p:sp>
      <p:sp>
        <p:nvSpPr>
          <p:cNvPr id="7" name="text-126"/>
          <p:cNvSpPr txBox="1"/>
          <p:nvPr/>
        </p:nvSpPr>
        <p:spPr>
          <a:xfrm>
            <a:off x="812800" y="4000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accent4"/>
                </a:solidFill>
              </a:rPr>
              <a:t>comercial@vapulab.com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accent4"/>
                </a:solidFill>
              </a:rPr>
              <a:t>notaflow.vapulab.com</a:t>
            </a:r>
            <a:endParaRPr lang="en-US" sz="1600" dirty="0"/>
          </a:p>
        </p:txBody>
      </p:sp>
      <p:sp>
        <p:nvSpPr>
          <p:cNvPr id="8" name="text-127"/>
          <p:cNvSpPr txBox="1"/>
          <p:nvPr/>
        </p:nvSpPr>
        <p:spPr>
          <a:xfrm>
            <a:off x="812800" y="6223000"/>
            <a:ext cx="635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chemeClr val="accent4"/>
                </a:solidFill>
              </a:rPr>
              <a:t>Um produto Vapulab · Londrina, PR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taFlow">
  <a:themeElements>
    <a:clrScheme name="NotaFlow">
      <a:dk1>
        <a:srgbClr val="090D14"/>
      </a:dk1>
      <a:lt1>
        <a:srgbClr val="FFFFFC"/>
      </a:lt1>
      <a:dk2>
        <a:srgbClr val="121774"/>
      </a:dk2>
      <a:lt2>
        <a:srgbClr val="EEF0F8"/>
      </a:lt2>
      <a:accent1>
        <a:srgbClr val="1E40AF"/>
      </a:accent1>
      <a:accent2>
        <a:srgbClr val="F5B83D"/>
      </a:accent2>
      <a:accent3>
        <a:srgbClr val="3B4458"/>
      </a:accent3>
      <a:accent4>
        <a:srgbClr val="C9CCF0"/>
      </a:accent4>
      <a:accent5>
        <a:srgbClr val="2A31A0"/>
      </a:accent5>
      <a:accent6>
        <a:srgbClr val="E2E4E8"/>
      </a:accent6>
      <a:hlink>
        <a:srgbClr val="1E40AF"/>
      </a:hlink>
      <a:folHlink>
        <a:srgbClr val="2A31A0"/>
      </a:folHlink>
    </a:clrScheme>
    <a:fontScheme name="NotaFlow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Vapulab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NotaFlow · Rodada de investimento</dc:title>
  <dc:subject>PptxGenJS Presentation</dc:subject>
  <dc:creator>Vapulab</dc:creator>
  <cp:lastModifiedBy>Vapulab</cp:lastModifiedBy>
  <cp:revision>1</cp:revision>
  <dcterms:created xsi:type="dcterms:W3CDTF">2026-10-21T21:55:45Z</dcterms:created>
  <dcterms:modified xsi:type="dcterms:W3CDTF">2026-10-21T21:55:45Z</dcterms:modified>
</cp:coreProperties>
</file>